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comments/modernComment_199_E865E0E7.xml" ContentType="application/vnd.ms-powerpoint.comments+xml"/>
  <Override PartName="/ppt/notesSlides/notesSlide8.xml" ContentType="application/vnd.openxmlformats-officedocument.presentationml.notesSlide+xml"/>
  <Override PartName="/ppt/comments/modernComment_19C_B1F80865.xml" ContentType="application/vnd.ms-powerpoint.comments+xml"/>
  <Override PartName="/ppt/notesSlides/notesSlide9.xml" ContentType="application/vnd.openxmlformats-officedocument.presentationml.notesSlide+xml"/>
  <Override PartName="/ppt/comments/modernComment_181_E3615940.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comments/modernComment_184_8A40DE60.xml" ContentType="application/vnd.ms-powerpoint.comments+xml"/>
  <Override PartName="/ppt/notesSlides/notesSlide11.xml" ContentType="application/vnd.openxmlformats-officedocument.presentationml.notesSlide+xml"/>
  <Override PartName="/ppt/comments/modernComment_19B_FC19632A.xml" ContentType="application/vnd.ms-powerpoint.comments+xml"/>
  <Override PartName="/ppt/notesSlides/notesSlide12.xml" ContentType="application/vnd.openxmlformats-officedocument.presentationml.notesSlide+xml"/>
  <Override PartName="/ppt/comments/modernComment_18F_BB527458.xml" ContentType="application/vnd.ms-powerpoint.comments+xml"/>
  <Override PartName="/ppt/notesSlides/notesSlide13.xml" ContentType="application/vnd.openxmlformats-officedocument.presentationml.notesSlide+xml"/>
  <Override PartName="/ppt/comments/modernComment_197_C04ACB7A.xml" ContentType="application/vnd.ms-powerpoint.comments+xml"/>
  <Override PartName="/ppt/notesSlides/notesSlide14.xml" ContentType="application/vnd.openxmlformats-officedocument.presentationml.notesSlide+xml"/>
  <Override PartName="/ppt/comments/modernComment_190_64FC6A7D.xml" ContentType="application/vnd.ms-powerpoint.comments+xml"/>
  <Override PartName="/ppt/notesSlides/notesSlide15.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0"/>
  </p:notesMasterIdLst>
  <p:handoutMasterIdLst>
    <p:handoutMasterId r:id="rId21"/>
  </p:handoutMasterIdLst>
  <p:sldIdLst>
    <p:sldId id="377" r:id="rId5"/>
    <p:sldId id="379" r:id="rId6"/>
    <p:sldId id="390" r:id="rId7"/>
    <p:sldId id="380" r:id="rId8"/>
    <p:sldId id="389" r:id="rId9"/>
    <p:sldId id="410" r:id="rId10"/>
    <p:sldId id="409" r:id="rId11"/>
    <p:sldId id="412" r:id="rId12"/>
    <p:sldId id="385" r:id="rId13"/>
    <p:sldId id="388" r:id="rId14"/>
    <p:sldId id="411" r:id="rId15"/>
    <p:sldId id="399" r:id="rId16"/>
    <p:sldId id="407" r:id="rId17"/>
    <p:sldId id="400" r:id="rId18"/>
    <p:sldId id="392"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5005"/>
    <a:srgbClr val="4E3608"/>
    <a:srgbClr val="E8AE0A"/>
    <a:srgbClr val="B48708"/>
    <a:srgbClr val="F9E7B5"/>
    <a:srgbClr val="F2CD64"/>
    <a:srgbClr val="F7DF9B"/>
    <a:srgbClr val="F1CF41"/>
    <a:srgbClr val="FAECC6"/>
    <a:srgbClr val="C6D9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44" autoAdjust="0"/>
    <p:restoredTop sz="83399" autoAdjust="0"/>
  </p:normalViewPr>
  <p:slideViewPr>
    <p:cSldViewPr snapToGrid="0">
      <p:cViewPr varScale="1">
        <p:scale>
          <a:sx n="69" d="100"/>
          <a:sy n="69" d="100"/>
        </p:scale>
        <p:origin x="504" y="58"/>
      </p:cViewPr>
      <p:guideLst/>
    </p:cSldViewPr>
  </p:slideViewPr>
  <p:outlineViewPr>
    <p:cViewPr>
      <p:scale>
        <a:sx n="33" d="100"/>
        <a:sy n="33" d="100"/>
      </p:scale>
      <p:origin x="0" y="-6840"/>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8/10/relationships/authors" Target="authors.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807DA3-62C3-471B-83CE-B0C33A25F4BE}" type="doc">
      <dgm:prSet loTypeId="urn:microsoft.com/office/officeart/2005/8/layout/arrow2" loCatId="process" qsTypeId="urn:microsoft.com/office/officeart/2005/8/quickstyle/simple1" qsCatId="simple" csTypeId="urn:microsoft.com/office/officeart/2005/8/colors/accent1_2" csCatId="accent1" phldr="1"/>
      <dgm:spPr/>
    </dgm:pt>
    <dgm:pt modelId="{25BCA9A1-1211-4DD6-A523-38EFBEAE4492}">
      <dgm:prSet phldrT="[Szöveg]" custT="1"/>
      <dgm:spPr/>
      <dgm:t>
        <a:bodyPr/>
        <a:lstStyle/>
        <a:p>
          <a:pPr>
            <a:buNone/>
          </a:pPr>
          <a:r>
            <a:rPr lang="en-US" sz="1800" b="1" spc="50" noProof="1">
              <a:solidFill>
                <a:srgbClr val="4E3608"/>
              </a:solidFill>
            </a:rPr>
            <a:t>Jan. 30. – Feb. 2.</a:t>
          </a:r>
          <a:r>
            <a:rPr lang="hu-HU" sz="1800" b="1" spc="50" noProof="1">
              <a:solidFill>
                <a:srgbClr val="4E3608"/>
              </a:solidFill>
            </a:rPr>
            <a:t> </a:t>
          </a:r>
          <a:r>
            <a:rPr lang="en-US" sz="1800" spc="50" baseline="0" noProof="1">
              <a:solidFill>
                <a:srgbClr val="785005"/>
              </a:solidFill>
            </a:rPr>
            <a:t>Planning and Preparation</a:t>
          </a:r>
          <a:endParaRPr lang="hu-HU" sz="1800" dirty="0"/>
        </a:p>
      </dgm:t>
    </dgm:pt>
    <dgm:pt modelId="{84534257-0A09-48DA-BF18-C5B21356B721}" type="parTrans" cxnId="{54E1B495-E8B3-450B-83A6-C81CE2593D07}">
      <dgm:prSet/>
      <dgm:spPr/>
      <dgm:t>
        <a:bodyPr/>
        <a:lstStyle/>
        <a:p>
          <a:endParaRPr lang="hu-HU"/>
        </a:p>
      </dgm:t>
    </dgm:pt>
    <dgm:pt modelId="{4AF27589-C22E-4014-93C2-7CAE6D52A9DA}" type="sibTrans" cxnId="{54E1B495-E8B3-450B-83A6-C81CE2593D07}">
      <dgm:prSet/>
      <dgm:spPr/>
      <dgm:t>
        <a:bodyPr/>
        <a:lstStyle/>
        <a:p>
          <a:endParaRPr lang="hu-HU"/>
        </a:p>
      </dgm:t>
    </dgm:pt>
    <dgm:pt modelId="{97225A9D-91B2-4F85-A759-C061DAF2DEF8}">
      <dgm:prSet phldrT="[Szöveg]" custT="1"/>
      <dgm:spPr/>
      <dgm:t>
        <a:bodyPr/>
        <a:lstStyle/>
        <a:p>
          <a:pPr>
            <a:buNone/>
          </a:pPr>
          <a:r>
            <a:rPr lang="en-US" sz="1800" b="1" i="0" spc="50" noProof="1">
              <a:solidFill>
                <a:srgbClr val="4E3608"/>
              </a:solidFill>
            </a:rPr>
            <a:t>Feb. 10. –</a:t>
          </a:r>
          <a:r>
            <a:rPr lang="hu-HU" sz="1800" b="1" i="0" spc="50" noProof="1">
              <a:solidFill>
                <a:srgbClr val="4E3608"/>
              </a:solidFill>
            </a:rPr>
            <a:t> </a:t>
          </a:r>
          <a:r>
            <a:rPr lang="en-US" sz="1800" b="1" i="0" spc="50" noProof="1">
              <a:solidFill>
                <a:srgbClr val="4E3608"/>
              </a:solidFill>
            </a:rPr>
            <a:t>Feb. 16.</a:t>
          </a:r>
          <a:r>
            <a:rPr lang="hu-HU" sz="1800" b="1" i="0" spc="50" noProof="1">
              <a:solidFill>
                <a:srgbClr val="4E3608"/>
              </a:solidFill>
            </a:rPr>
            <a:t> </a:t>
          </a:r>
          <a:r>
            <a:rPr lang="hu-HU" sz="1800" i="1" spc="50" noProof="1">
              <a:solidFill>
                <a:srgbClr val="785005"/>
              </a:solidFill>
            </a:rPr>
            <a:t>Salons and </a:t>
          </a:r>
          <a:r>
            <a:rPr lang="en-US" sz="1800" i="1" spc="50" noProof="1">
              <a:solidFill>
                <a:srgbClr val="785005"/>
              </a:solidFill>
            </a:rPr>
            <a:t>Event implementation</a:t>
          </a:r>
          <a:endParaRPr lang="hu-HU" sz="1800" i="0" dirty="0"/>
        </a:p>
      </dgm:t>
    </dgm:pt>
    <dgm:pt modelId="{61041646-2EA3-41F0-909F-A11454DF4B46}" type="parTrans" cxnId="{F21EFF56-EA60-4EC2-8764-53ED2EC174D8}">
      <dgm:prSet/>
      <dgm:spPr/>
      <dgm:t>
        <a:bodyPr/>
        <a:lstStyle/>
        <a:p>
          <a:endParaRPr lang="hu-HU"/>
        </a:p>
      </dgm:t>
    </dgm:pt>
    <dgm:pt modelId="{83D00493-C0DA-4530-BD97-83C898BD3765}" type="sibTrans" cxnId="{F21EFF56-EA60-4EC2-8764-53ED2EC174D8}">
      <dgm:prSet/>
      <dgm:spPr/>
      <dgm:t>
        <a:bodyPr/>
        <a:lstStyle/>
        <a:p>
          <a:endParaRPr lang="hu-HU"/>
        </a:p>
      </dgm:t>
    </dgm:pt>
    <dgm:pt modelId="{4D07498E-04CD-41F9-939A-71D8F1450C59}">
      <dgm:prSet phldrT="[Szöveg]" custT="1"/>
      <dgm:spPr/>
      <dgm:t>
        <a:bodyPr/>
        <a:lstStyle/>
        <a:p>
          <a:pPr>
            <a:buNone/>
          </a:pPr>
          <a:r>
            <a:rPr lang="en-US" sz="1800" b="1" spc="50" noProof="1">
              <a:solidFill>
                <a:srgbClr val="4E3608"/>
              </a:solidFill>
            </a:rPr>
            <a:t>Feb. 17. –</a:t>
          </a:r>
          <a:r>
            <a:rPr lang="hu-HU" sz="1800" b="1" spc="50" noProof="1">
              <a:solidFill>
                <a:srgbClr val="4E3608"/>
              </a:solidFill>
            </a:rPr>
            <a:t> Apr. 1</a:t>
          </a:r>
          <a:r>
            <a:rPr lang="en-US" sz="1800" b="1" spc="50" noProof="1">
              <a:solidFill>
                <a:srgbClr val="4E3608"/>
              </a:solidFill>
            </a:rPr>
            <a:t>.</a:t>
          </a:r>
          <a:r>
            <a:rPr lang="hu-HU" sz="1800" b="1" spc="50" noProof="1">
              <a:solidFill>
                <a:srgbClr val="4E3608"/>
              </a:solidFill>
            </a:rPr>
            <a:t> </a:t>
          </a:r>
          <a:r>
            <a:rPr lang="en-US" sz="1800" spc="50" baseline="0" noProof="1">
              <a:solidFill>
                <a:srgbClr val="4E3608"/>
              </a:solidFill>
            </a:rPr>
            <a:t>Account and </a:t>
          </a:r>
          <a:r>
            <a:rPr lang="en-US" sz="1800" spc="50" noProof="1">
              <a:solidFill>
                <a:srgbClr val="4E3608"/>
              </a:solidFill>
            </a:rPr>
            <a:t>a</a:t>
          </a:r>
          <a:r>
            <a:rPr lang="en-US" sz="1800" spc="50" baseline="0" noProof="1">
              <a:solidFill>
                <a:srgbClr val="4E3608"/>
              </a:solidFill>
            </a:rPr>
            <a:t>dmin interface</a:t>
          </a:r>
          <a:endParaRPr lang="hu-HU" sz="1800" dirty="0"/>
        </a:p>
      </dgm:t>
    </dgm:pt>
    <dgm:pt modelId="{FDD387F2-1801-4908-8589-53C6F04DD9A0}" type="parTrans" cxnId="{AE524E53-79EF-4C3C-955A-86535B1F920B}">
      <dgm:prSet/>
      <dgm:spPr/>
      <dgm:t>
        <a:bodyPr/>
        <a:lstStyle/>
        <a:p>
          <a:endParaRPr lang="hu-HU"/>
        </a:p>
      </dgm:t>
    </dgm:pt>
    <dgm:pt modelId="{BE1ADE5C-9085-448A-80DC-F0A3F5F0A82A}" type="sibTrans" cxnId="{AE524E53-79EF-4C3C-955A-86535B1F920B}">
      <dgm:prSet/>
      <dgm:spPr/>
      <dgm:t>
        <a:bodyPr/>
        <a:lstStyle/>
        <a:p>
          <a:endParaRPr lang="hu-HU"/>
        </a:p>
      </dgm:t>
    </dgm:pt>
    <dgm:pt modelId="{07D51FBD-7766-4533-9705-4B62C3F45D26}">
      <dgm:prSet custT="1"/>
      <dgm:spPr/>
      <dgm:t>
        <a:bodyPr/>
        <a:lstStyle/>
        <a:p>
          <a:pPr>
            <a:buNone/>
          </a:pPr>
          <a:r>
            <a:rPr lang="en-US" sz="1800" b="1" i="0" spc="50" baseline="0" noProof="1">
              <a:solidFill>
                <a:srgbClr val="4E3608"/>
              </a:solidFill>
            </a:rPr>
            <a:t>Feb. 3. – Feb. 9.</a:t>
          </a:r>
          <a:r>
            <a:rPr lang="hu-HU" sz="1800" b="1" i="0" spc="50" baseline="0" noProof="1">
              <a:solidFill>
                <a:srgbClr val="4E3608"/>
              </a:solidFill>
            </a:rPr>
            <a:t> </a:t>
          </a:r>
          <a:r>
            <a:rPr lang="en-US" sz="1800" spc="50" baseline="0" noProof="1">
              <a:solidFill>
                <a:srgbClr val="785005"/>
              </a:solidFill>
            </a:rPr>
            <a:t>Programming and Database</a:t>
          </a:r>
        </a:p>
      </dgm:t>
    </dgm:pt>
    <dgm:pt modelId="{6118BB3D-2FC3-434C-A247-47D5C102D864}" type="sibTrans" cxnId="{204ECCFD-E245-4FBD-8C54-3762471840E3}">
      <dgm:prSet/>
      <dgm:spPr/>
      <dgm:t>
        <a:bodyPr/>
        <a:lstStyle/>
        <a:p>
          <a:endParaRPr lang="hu-HU"/>
        </a:p>
      </dgm:t>
    </dgm:pt>
    <dgm:pt modelId="{C20DA646-AA10-40AB-991B-4A08B340CAEC}" type="parTrans" cxnId="{204ECCFD-E245-4FBD-8C54-3762471840E3}">
      <dgm:prSet/>
      <dgm:spPr/>
      <dgm:t>
        <a:bodyPr/>
        <a:lstStyle/>
        <a:p>
          <a:endParaRPr lang="hu-HU"/>
        </a:p>
      </dgm:t>
    </dgm:pt>
    <dgm:pt modelId="{0E385818-4D62-4440-9EBD-544A03A942C2}" type="pres">
      <dgm:prSet presAssocID="{68807DA3-62C3-471B-83CE-B0C33A25F4BE}" presName="arrowDiagram" presStyleCnt="0">
        <dgm:presLayoutVars>
          <dgm:chMax val="5"/>
          <dgm:dir/>
          <dgm:resizeHandles val="exact"/>
        </dgm:presLayoutVars>
      </dgm:prSet>
      <dgm:spPr/>
    </dgm:pt>
    <dgm:pt modelId="{FFC46A68-DF44-4148-B571-6AF2193E3EEB}" type="pres">
      <dgm:prSet presAssocID="{68807DA3-62C3-471B-83CE-B0C33A25F4BE}" presName="arrow" presStyleLbl="bgShp" presStyleIdx="0" presStyleCnt="1" custLinFactNeighborX="31" custLinFactNeighborY="3011"/>
      <dgm:spPr>
        <a:solidFill>
          <a:srgbClr val="E8AE0A"/>
        </a:solidFill>
        <a:ln>
          <a:solidFill>
            <a:srgbClr val="B48708"/>
          </a:solidFill>
        </a:ln>
      </dgm:spPr>
    </dgm:pt>
    <dgm:pt modelId="{4F02BE70-946E-4272-BF51-E7E5AD32408A}" type="pres">
      <dgm:prSet presAssocID="{68807DA3-62C3-471B-83CE-B0C33A25F4BE}" presName="arrowDiagram4" presStyleCnt="0"/>
      <dgm:spPr/>
    </dgm:pt>
    <dgm:pt modelId="{C892D192-9786-4D7C-8393-89AEB2AF5786}" type="pres">
      <dgm:prSet presAssocID="{25BCA9A1-1211-4DD6-A523-38EFBEAE4492}" presName="bullet4a" presStyleLbl="node1" presStyleIdx="0" presStyleCnt="4"/>
      <dgm:spPr>
        <a:solidFill>
          <a:srgbClr val="785005"/>
        </a:solidFill>
        <a:ln>
          <a:solidFill>
            <a:srgbClr val="4E3608"/>
          </a:solidFill>
        </a:ln>
      </dgm:spPr>
    </dgm:pt>
    <dgm:pt modelId="{7C58B77D-7359-45F0-809E-80CB7AD24E6A}" type="pres">
      <dgm:prSet presAssocID="{25BCA9A1-1211-4DD6-A523-38EFBEAE4492}" presName="textBox4a" presStyleLbl="revTx" presStyleIdx="0" presStyleCnt="4" custScaleX="203772" custScaleY="91831" custLinFactNeighborX="-34146" custLinFactNeighborY="8846">
        <dgm:presLayoutVars>
          <dgm:bulletEnabled val="1"/>
        </dgm:presLayoutVars>
      </dgm:prSet>
      <dgm:spPr/>
    </dgm:pt>
    <dgm:pt modelId="{CD8E3186-33D6-4557-BC75-B5CFF425C586}" type="pres">
      <dgm:prSet presAssocID="{07D51FBD-7766-4533-9705-4B62C3F45D26}" presName="bullet4b" presStyleLbl="node1" presStyleIdx="1" presStyleCnt="4" custLinFactNeighborX="42494" custLinFactNeighborY="-7406"/>
      <dgm:spPr>
        <a:solidFill>
          <a:srgbClr val="785005"/>
        </a:solidFill>
        <a:ln>
          <a:solidFill>
            <a:srgbClr val="4E3608"/>
          </a:solidFill>
        </a:ln>
      </dgm:spPr>
    </dgm:pt>
    <dgm:pt modelId="{27C75445-2035-4CDF-BA82-6FB1B88C3374}" type="pres">
      <dgm:prSet presAssocID="{07D51FBD-7766-4533-9705-4B62C3F45D26}" presName="textBox4b" presStyleLbl="revTx" presStyleIdx="1" presStyleCnt="4" custScaleX="164489" custScaleY="50566" custLinFactNeighborX="-32984" custLinFactNeighborY="-14510">
        <dgm:presLayoutVars>
          <dgm:bulletEnabled val="1"/>
        </dgm:presLayoutVars>
      </dgm:prSet>
      <dgm:spPr/>
    </dgm:pt>
    <dgm:pt modelId="{B28B952E-9897-4AD4-BE3F-AB0F58D41C21}" type="pres">
      <dgm:prSet presAssocID="{97225A9D-91B2-4F85-A759-C061DAF2DEF8}" presName="bullet4c" presStyleLbl="node1" presStyleIdx="2" presStyleCnt="4" custLinFactNeighborX="60015" custLinFactNeighborY="-11019"/>
      <dgm:spPr>
        <a:solidFill>
          <a:srgbClr val="785005"/>
        </a:solidFill>
        <a:ln>
          <a:solidFill>
            <a:srgbClr val="4E3608"/>
          </a:solidFill>
        </a:ln>
      </dgm:spPr>
    </dgm:pt>
    <dgm:pt modelId="{719FA325-FF89-4AFC-8D8C-95AC7BF9B5A2}" type="pres">
      <dgm:prSet presAssocID="{97225A9D-91B2-4F85-A759-C061DAF2DEF8}" presName="textBox4c" presStyleLbl="revTx" presStyleIdx="2" presStyleCnt="4" custScaleX="161685" custScaleY="34860" custLinFactNeighborX="-31929" custLinFactNeighborY="-24290">
        <dgm:presLayoutVars>
          <dgm:bulletEnabled val="1"/>
        </dgm:presLayoutVars>
      </dgm:prSet>
      <dgm:spPr/>
    </dgm:pt>
    <dgm:pt modelId="{7C58F872-3250-4752-90AA-4A4812F21816}" type="pres">
      <dgm:prSet presAssocID="{4D07498E-04CD-41F9-939A-71D8F1450C59}" presName="bullet4d" presStyleLbl="node1" presStyleIdx="3" presStyleCnt="4" custLinFactNeighborX="93766" custLinFactNeighborY="-15960"/>
      <dgm:spPr>
        <a:solidFill>
          <a:srgbClr val="785005"/>
        </a:solidFill>
        <a:ln>
          <a:solidFill>
            <a:srgbClr val="4E3608"/>
          </a:solidFill>
        </a:ln>
      </dgm:spPr>
    </dgm:pt>
    <dgm:pt modelId="{95A6B341-7F18-469B-9C16-A856CCA7B788}" type="pres">
      <dgm:prSet presAssocID="{4D07498E-04CD-41F9-939A-71D8F1450C59}" presName="textBox4d" presStyleLbl="revTx" presStyleIdx="3" presStyleCnt="4" custScaleX="159445" custScaleY="40135" custLinFactNeighborX="-3725" custLinFactNeighborY="-22554">
        <dgm:presLayoutVars>
          <dgm:bulletEnabled val="1"/>
        </dgm:presLayoutVars>
      </dgm:prSet>
      <dgm:spPr/>
    </dgm:pt>
  </dgm:ptLst>
  <dgm:cxnLst>
    <dgm:cxn modelId="{6920781E-5B30-4102-B64F-48F83451C732}" type="presOf" srcId="{07D51FBD-7766-4533-9705-4B62C3F45D26}" destId="{27C75445-2035-4CDF-BA82-6FB1B88C3374}" srcOrd="0" destOrd="0" presId="urn:microsoft.com/office/officeart/2005/8/layout/arrow2"/>
    <dgm:cxn modelId="{AE524E53-79EF-4C3C-955A-86535B1F920B}" srcId="{68807DA3-62C3-471B-83CE-B0C33A25F4BE}" destId="{4D07498E-04CD-41F9-939A-71D8F1450C59}" srcOrd="3" destOrd="0" parTransId="{FDD387F2-1801-4908-8589-53C6F04DD9A0}" sibTransId="{BE1ADE5C-9085-448A-80DC-F0A3F5F0A82A}"/>
    <dgm:cxn modelId="{F21EFF56-EA60-4EC2-8764-53ED2EC174D8}" srcId="{68807DA3-62C3-471B-83CE-B0C33A25F4BE}" destId="{97225A9D-91B2-4F85-A759-C061DAF2DEF8}" srcOrd="2" destOrd="0" parTransId="{61041646-2EA3-41F0-909F-A11454DF4B46}" sibTransId="{83D00493-C0DA-4530-BD97-83C898BD3765}"/>
    <dgm:cxn modelId="{F728C178-1F8B-4FD3-96BC-96B814319E0C}" type="presOf" srcId="{68807DA3-62C3-471B-83CE-B0C33A25F4BE}" destId="{0E385818-4D62-4440-9EBD-544A03A942C2}" srcOrd="0" destOrd="0" presId="urn:microsoft.com/office/officeart/2005/8/layout/arrow2"/>
    <dgm:cxn modelId="{36D6E37A-F011-4C2F-B220-E17FF9FC55C5}" type="presOf" srcId="{97225A9D-91B2-4F85-A759-C061DAF2DEF8}" destId="{719FA325-FF89-4AFC-8D8C-95AC7BF9B5A2}" srcOrd="0" destOrd="0" presId="urn:microsoft.com/office/officeart/2005/8/layout/arrow2"/>
    <dgm:cxn modelId="{6175248C-CB9D-444C-8DAC-670C3F95B5B3}" type="presOf" srcId="{4D07498E-04CD-41F9-939A-71D8F1450C59}" destId="{95A6B341-7F18-469B-9C16-A856CCA7B788}" srcOrd="0" destOrd="0" presId="urn:microsoft.com/office/officeart/2005/8/layout/arrow2"/>
    <dgm:cxn modelId="{54E1B495-E8B3-450B-83A6-C81CE2593D07}" srcId="{68807DA3-62C3-471B-83CE-B0C33A25F4BE}" destId="{25BCA9A1-1211-4DD6-A523-38EFBEAE4492}" srcOrd="0" destOrd="0" parTransId="{84534257-0A09-48DA-BF18-C5B21356B721}" sibTransId="{4AF27589-C22E-4014-93C2-7CAE6D52A9DA}"/>
    <dgm:cxn modelId="{3A9C30ED-7513-4B69-9477-D5E42AC51A52}" type="presOf" srcId="{25BCA9A1-1211-4DD6-A523-38EFBEAE4492}" destId="{7C58B77D-7359-45F0-809E-80CB7AD24E6A}" srcOrd="0" destOrd="0" presId="urn:microsoft.com/office/officeart/2005/8/layout/arrow2"/>
    <dgm:cxn modelId="{204ECCFD-E245-4FBD-8C54-3762471840E3}" srcId="{68807DA3-62C3-471B-83CE-B0C33A25F4BE}" destId="{07D51FBD-7766-4533-9705-4B62C3F45D26}" srcOrd="1" destOrd="0" parTransId="{C20DA646-AA10-40AB-991B-4A08B340CAEC}" sibTransId="{6118BB3D-2FC3-434C-A247-47D5C102D864}"/>
    <dgm:cxn modelId="{FB11C973-93E1-48A8-97DC-38B4C6457B3A}" type="presParOf" srcId="{0E385818-4D62-4440-9EBD-544A03A942C2}" destId="{FFC46A68-DF44-4148-B571-6AF2193E3EEB}" srcOrd="0" destOrd="0" presId="urn:microsoft.com/office/officeart/2005/8/layout/arrow2"/>
    <dgm:cxn modelId="{F9D4FC90-6160-4DAD-A9EF-DEA7B131068C}" type="presParOf" srcId="{0E385818-4D62-4440-9EBD-544A03A942C2}" destId="{4F02BE70-946E-4272-BF51-E7E5AD32408A}" srcOrd="1" destOrd="0" presId="urn:microsoft.com/office/officeart/2005/8/layout/arrow2"/>
    <dgm:cxn modelId="{1969E170-ADF8-48D8-B5D0-C9F4E42B58C0}" type="presParOf" srcId="{4F02BE70-946E-4272-BF51-E7E5AD32408A}" destId="{C892D192-9786-4D7C-8393-89AEB2AF5786}" srcOrd="0" destOrd="0" presId="urn:microsoft.com/office/officeart/2005/8/layout/arrow2"/>
    <dgm:cxn modelId="{32F8230F-A27D-45DB-8D44-50ED560257C1}" type="presParOf" srcId="{4F02BE70-946E-4272-BF51-E7E5AD32408A}" destId="{7C58B77D-7359-45F0-809E-80CB7AD24E6A}" srcOrd="1" destOrd="0" presId="urn:microsoft.com/office/officeart/2005/8/layout/arrow2"/>
    <dgm:cxn modelId="{20EB8598-D807-48E9-9F9B-B85ADBE2A390}" type="presParOf" srcId="{4F02BE70-946E-4272-BF51-E7E5AD32408A}" destId="{CD8E3186-33D6-4557-BC75-B5CFF425C586}" srcOrd="2" destOrd="0" presId="urn:microsoft.com/office/officeart/2005/8/layout/arrow2"/>
    <dgm:cxn modelId="{EB9A143F-D2B2-4009-BFAD-24B532807381}" type="presParOf" srcId="{4F02BE70-946E-4272-BF51-E7E5AD32408A}" destId="{27C75445-2035-4CDF-BA82-6FB1B88C3374}" srcOrd="3" destOrd="0" presId="urn:microsoft.com/office/officeart/2005/8/layout/arrow2"/>
    <dgm:cxn modelId="{5A408A87-15A8-4612-A92B-E76E48BDDAB2}" type="presParOf" srcId="{4F02BE70-946E-4272-BF51-E7E5AD32408A}" destId="{B28B952E-9897-4AD4-BE3F-AB0F58D41C21}" srcOrd="4" destOrd="0" presId="urn:microsoft.com/office/officeart/2005/8/layout/arrow2"/>
    <dgm:cxn modelId="{221F7373-1D86-45C5-BE79-FC5AEFF9D563}" type="presParOf" srcId="{4F02BE70-946E-4272-BF51-E7E5AD32408A}" destId="{719FA325-FF89-4AFC-8D8C-95AC7BF9B5A2}" srcOrd="5" destOrd="0" presId="urn:microsoft.com/office/officeart/2005/8/layout/arrow2"/>
    <dgm:cxn modelId="{CF13C3BF-FBB9-4C71-A5D6-0A2B4AC43C9D}" type="presParOf" srcId="{4F02BE70-946E-4272-BF51-E7E5AD32408A}" destId="{7C58F872-3250-4752-90AA-4A4812F21816}" srcOrd="6" destOrd="0" presId="urn:microsoft.com/office/officeart/2005/8/layout/arrow2"/>
    <dgm:cxn modelId="{E8A318BF-A2A2-41BF-9429-D420D86A492B}" type="presParOf" srcId="{4F02BE70-946E-4272-BF51-E7E5AD32408A}" destId="{95A6B341-7F18-469B-9C16-A856CCA7B788}"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C46A68-DF44-4148-B571-6AF2193E3EEB}">
      <dsp:nvSpPr>
        <dsp:cNvPr id="0" name=""/>
        <dsp:cNvSpPr/>
      </dsp:nvSpPr>
      <dsp:spPr>
        <a:xfrm>
          <a:off x="1514189" y="0"/>
          <a:ext cx="7872548" cy="4920342"/>
        </a:xfrm>
        <a:prstGeom prst="swooshArrow">
          <a:avLst>
            <a:gd name="adj1" fmla="val 25000"/>
            <a:gd name="adj2" fmla="val 25000"/>
          </a:avLst>
        </a:prstGeom>
        <a:solidFill>
          <a:srgbClr val="E8AE0A"/>
        </a:solidFill>
        <a:ln>
          <a:solidFill>
            <a:srgbClr val="B48708"/>
          </a:solidFill>
        </a:ln>
        <a:effectLst/>
      </dsp:spPr>
      <dsp:style>
        <a:lnRef idx="0">
          <a:scrgbClr r="0" g="0" b="0"/>
        </a:lnRef>
        <a:fillRef idx="1">
          <a:scrgbClr r="0" g="0" b="0"/>
        </a:fillRef>
        <a:effectRef idx="0">
          <a:scrgbClr r="0" g="0" b="0"/>
        </a:effectRef>
        <a:fontRef idx="minor"/>
      </dsp:style>
    </dsp:sp>
    <dsp:sp modelId="{C892D192-9786-4D7C-8393-89AEB2AF5786}">
      <dsp:nvSpPr>
        <dsp:cNvPr id="0" name=""/>
        <dsp:cNvSpPr/>
      </dsp:nvSpPr>
      <dsp:spPr>
        <a:xfrm>
          <a:off x="2287194" y="3658767"/>
          <a:ext cx="181068" cy="181068"/>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58B77D-7359-45F0-809E-80CB7AD24E6A}">
      <dsp:nvSpPr>
        <dsp:cNvPr id="0" name=""/>
        <dsp:cNvSpPr/>
      </dsp:nvSpPr>
      <dsp:spPr>
        <a:xfrm>
          <a:off x="1219561" y="3844963"/>
          <a:ext cx="2743190" cy="10753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945" tIns="0" rIns="0" bIns="0" numCol="1" spcCol="1270" anchor="t" anchorCtr="0">
          <a:noAutofit/>
        </a:bodyPr>
        <a:lstStyle/>
        <a:p>
          <a:pPr marL="0" lvl="0" indent="0" algn="l" defTabSz="800100">
            <a:lnSpc>
              <a:spcPct val="90000"/>
            </a:lnSpc>
            <a:spcBef>
              <a:spcPct val="0"/>
            </a:spcBef>
            <a:spcAft>
              <a:spcPct val="35000"/>
            </a:spcAft>
            <a:buNone/>
          </a:pPr>
          <a:r>
            <a:rPr lang="en-US" sz="1800" b="1" kern="1200" spc="50" noProof="1">
              <a:solidFill>
                <a:srgbClr val="4E3608"/>
              </a:solidFill>
            </a:rPr>
            <a:t>Jan. 30. – Feb. 2.</a:t>
          </a:r>
          <a:r>
            <a:rPr lang="hu-HU" sz="1800" b="1" kern="1200" spc="50" noProof="1">
              <a:solidFill>
                <a:srgbClr val="4E3608"/>
              </a:solidFill>
            </a:rPr>
            <a:t> </a:t>
          </a:r>
          <a:r>
            <a:rPr lang="en-US" sz="1800" kern="1200" spc="50" baseline="0" noProof="1">
              <a:solidFill>
                <a:srgbClr val="785005"/>
              </a:solidFill>
            </a:rPr>
            <a:t>Planning and Preparation</a:t>
          </a:r>
          <a:endParaRPr lang="hu-HU" sz="1800" kern="1200" dirty="0"/>
        </a:p>
      </dsp:txBody>
      <dsp:txXfrm>
        <a:off x="1219561" y="3844963"/>
        <a:ext cx="2743190" cy="1075379"/>
      </dsp:txXfrm>
    </dsp:sp>
    <dsp:sp modelId="{CD8E3186-33D6-4557-BC75-B5CFF425C586}">
      <dsp:nvSpPr>
        <dsp:cNvPr id="0" name=""/>
        <dsp:cNvSpPr/>
      </dsp:nvSpPr>
      <dsp:spPr>
        <a:xfrm>
          <a:off x="3700298" y="2490973"/>
          <a:ext cx="314901" cy="314901"/>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C75445-2035-4CDF-BA82-6FB1B88C3374}">
      <dsp:nvSpPr>
        <dsp:cNvPr id="0" name=""/>
        <dsp:cNvSpPr/>
      </dsp:nvSpPr>
      <dsp:spPr>
        <a:xfrm>
          <a:off x="2645554" y="2901260"/>
          <a:ext cx="2719390" cy="11370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860" tIns="0" rIns="0" bIns="0" numCol="1" spcCol="1270" anchor="t" anchorCtr="0">
          <a:noAutofit/>
        </a:bodyPr>
        <a:lstStyle/>
        <a:p>
          <a:pPr marL="0" lvl="0" indent="0" algn="l" defTabSz="800100">
            <a:lnSpc>
              <a:spcPct val="90000"/>
            </a:lnSpc>
            <a:spcBef>
              <a:spcPct val="0"/>
            </a:spcBef>
            <a:spcAft>
              <a:spcPct val="35000"/>
            </a:spcAft>
            <a:buNone/>
          </a:pPr>
          <a:r>
            <a:rPr lang="en-US" sz="1800" b="1" i="0" kern="1200" spc="50" baseline="0" noProof="1">
              <a:solidFill>
                <a:srgbClr val="4E3608"/>
              </a:solidFill>
            </a:rPr>
            <a:t>Feb. 3. – Feb. 9.</a:t>
          </a:r>
          <a:r>
            <a:rPr lang="hu-HU" sz="1800" b="1" i="0" kern="1200" spc="50" baseline="0" noProof="1">
              <a:solidFill>
                <a:srgbClr val="4E3608"/>
              </a:solidFill>
            </a:rPr>
            <a:t> </a:t>
          </a:r>
          <a:r>
            <a:rPr lang="en-US" sz="1800" kern="1200" spc="50" baseline="0" noProof="1">
              <a:solidFill>
                <a:srgbClr val="785005"/>
              </a:solidFill>
            </a:rPr>
            <a:t>Programming and Database</a:t>
          </a:r>
        </a:p>
      </dsp:txBody>
      <dsp:txXfrm>
        <a:off x="2645554" y="2901260"/>
        <a:ext cx="2719390" cy="1137025"/>
      </dsp:txXfrm>
    </dsp:sp>
    <dsp:sp modelId="{B28B952E-9897-4AD4-BE3F-AB0F58D41C21}">
      <dsp:nvSpPr>
        <dsp:cNvPr id="0" name=""/>
        <dsp:cNvSpPr/>
      </dsp:nvSpPr>
      <dsp:spPr>
        <a:xfrm>
          <a:off x="5450447" y="1624972"/>
          <a:ext cx="417245" cy="417245"/>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9FA325-FF89-4AFC-8D8C-95AC7BF9B5A2}">
      <dsp:nvSpPr>
        <dsp:cNvPr id="0" name=""/>
        <dsp:cNvSpPr/>
      </dsp:nvSpPr>
      <dsp:spPr>
        <a:xfrm>
          <a:off x="4370899" y="2131346"/>
          <a:ext cx="2673033" cy="1060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1090" tIns="0" rIns="0" bIns="0" numCol="1" spcCol="1270" anchor="t" anchorCtr="0">
          <a:noAutofit/>
        </a:bodyPr>
        <a:lstStyle/>
        <a:p>
          <a:pPr marL="0" lvl="0" indent="0" algn="l" defTabSz="800100">
            <a:lnSpc>
              <a:spcPct val="90000"/>
            </a:lnSpc>
            <a:spcBef>
              <a:spcPct val="0"/>
            </a:spcBef>
            <a:spcAft>
              <a:spcPct val="35000"/>
            </a:spcAft>
            <a:buNone/>
          </a:pPr>
          <a:r>
            <a:rPr lang="en-US" sz="1800" b="1" i="0" kern="1200" spc="50" noProof="1">
              <a:solidFill>
                <a:srgbClr val="4E3608"/>
              </a:solidFill>
            </a:rPr>
            <a:t>Feb. 10. –</a:t>
          </a:r>
          <a:r>
            <a:rPr lang="hu-HU" sz="1800" b="1" i="0" kern="1200" spc="50" noProof="1">
              <a:solidFill>
                <a:srgbClr val="4E3608"/>
              </a:solidFill>
            </a:rPr>
            <a:t> </a:t>
          </a:r>
          <a:r>
            <a:rPr lang="en-US" sz="1800" b="1" i="0" kern="1200" spc="50" noProof="1">
              <a:solidFill>
                <a:srgbClr val="4E3608"/>
              </a:solidFill>
            </a:rPr>
            <a:t>Feb. 16.</a:t>
          </a:r>
          <a:r>
            <a:rPr lang="hu-HU" sz="1800" b="1" i="0" kern="1200" spc="50" noProof="1">
              <a:solidFill>
                <a:srgbClr val="4E3608"/>
              </a:solidFill>
            </a:rPr>
            <a:t> </a:t>
          </a:r>
          <a:r>
            <a:rPr lang="hu-HU" sz="1800" i="1" kern="1200" spc="50" noProof="1">
              <a:solidFill>
                <a:srgbClr val="785005"/>
              </a:solidFill>
            </a:rPr>
            <a:t>Salons and </a:t>
          </a:r>
          <a:r>
            <a:rPr lang="en-US" sz="1800" i="1" kern="1200" spc="50" noProof="1">
              <a:solidFill>
                <a:srgbClr val="785005"/>
              </a:solidFill>
            </a:rPr>
            <a:t>Event implementation</a:t>
          </a:r>
          <a:endParaRPr lang="hu-HU" sz="1800" i="0" kern="1200" dirty="0"/>
        </a:p>
      </dsp:txBody>
      <dsp:txXfrm>
        <a:off x="4370899" y="2131346"/>
        <a:ext cx="2673033" cy="1060013"/>
      </dsp:txXfrm>
    </dsp:sp>
    <dsp:sp modelId="{7C58F872-3250-4752-90AA-4A4812F21816}">
      <dsp:nvSpPr>
        <dsp:cNvPr id="0" name=""/>
        <dsp:cNvSpPr/>
      </dsp:nvSpPr>
      <dsp:spPr>
        <a:xfrm>
          <a:off x="7503339" y="1023773"/>
          <a:ext cx="558950" cy="558950"/>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5A6B341-7F18-469B-9C16-A856CCA7B788}">
      <dsp:nvSpPr>
        <dsp:cNvPr id="0" name=""/>
        <dsp:cNvSpPr/>
      </dsp:nvSpPr>
      <dsp:spPr>
        <a:xfrm>
          <a:off x="6705743" y="1652762"/>
          <a:ext cx="2636000" cy="1415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96177" tIns="0" rIns="0" bIns="0" numCol="1" spcCol="1270" anchor="t" anchorCtr="0">
          <a:noAutofit/>
        </a:bodyPr>
        <a:lstStyle/>
        <a:p>
          <a:pPr marL="0" lvl="0" indent="0" algn="l" defTabSz="800100">
            <a:lnSpc>
              <a:spcPct val="90000"/>
            </a:lnSpc>
            <a:spcBef>
              <a:spcPct val="0"/>
            </a:spcBef>
            <a:spcAft>
              <a:spcPct val="35000"/>
            </a:spcAft>
            <a:buNone/>
          </a:pPr>
          <a:r>
            <a:rPr lang="en-US" sz="1800" b="1" kern="1200" spc="50" noProof="1">
              <a:solidFill>
                <a:srgbClr val="4E3608"/>
              </a:solidFill>
            </a:rPr>
            <a:t>Feb. 17. –</a:t>
          </a:r>
          <a:r>
            <a:rPr lang="hu-HU" sz="1800" b="1" kern="1200" spc="50" noProof="1">
              <a:solidFill>
                <a:srgbClr val="4E3608"/>
              </a:solidFill>
            </a:rPr>
            <a:t> Apr. 1</a:t>
          </a:r>
          <a:r>
            <a:rPr lang="en-US" sz="1800" b="1" kern="1200" spc="50" noProof="1">
              <a:solidFill>
                <a:srgbClr val="4E3608"/>
              </a:solidFill>
            </a:rPr>
            <a:t>.</a:t>
          </a:r>
          <a:r>
            <a:rPr lang="hu-HU" sz="1800" b="1" kern="1200" spc="50" noProof="1">
              <a:solidFill>
                <a:srgbClr val="4E3608"/>
              </a:solidFill>
            </a:rPr>
            <a:t> </a:t>
          </a:r>
          <a:r>
            <a:rPr lang="en-US" sz="1800" kern="1200" spc="50" baseline="0" noProof="1">
              <a:solidFill>
                <a:srgbClr val="4E3608"/>
              </a:solidFill>
            </a:rPr>
            <a:t>Account and </a:t>
          </a:r>
          <a:r>
            <a:rPr lang="en-US" sz="1800" kern="1200" spc="50" noProof="1">
              <a:solidFill>
                <a:srgbClr val="4E3608"/>
              </a:solidFill>
            </a:rPr>
            <a:t>a</a:t>
          </a:r>
          <a:r>
            <a:rPr lang="en-US" sz="1800" kern="1200" spc="50" baseline="0" noProof="1">
              <a:solidFill>
                <a:srgbClr val="4E3608"/>
              </a:solidFill>
            </a:rPr>
            <a:t>dmin interface</a:t>
          </a:r>
          <a:endParaRPr lang="hu-HU" sz="1800" kern="1200" dirty="0"/>
        </a:p>
      </dsp:txBody>
      <dsp:txXfrm>
        <a:off x="6705743" y="1652762"/>
        <a:ext cx="2636000" cy="1415917"/>
      </dsp:txXfrm>
    </dsp:sp>
  </dsp:spTree>
</dsp:drawing>
</file>

<file path=ppt/diagrams/layout1.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4/15/2025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4/15/2025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Good morning/afternoon.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a:t>
            </a:r>
            <a:r>
              <a:rPr lang="en-US" dirty="0"/>
              <a:t> </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a:t>Martin Panyik, </a:t>
            </a:r>
            <a:r>
              <a:rPr lang="en-US" dirty="0"/>
              <a:t>Let’s get started with my presentation.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So, here's a quick overview of what we're going to talk about today:</a:t>
            </a:r>
            <a:endParaRPr lang="hu-HU" b="1" dirty="0"/>
          </a:p>
          <a:p>
            <a:pPr>
              <a:buNone/>
            </a:pPr>
            <a:endParaRPr lang="en-US" dirty="0"/>
          </a:p>
          <a:p>
            <a:pPr>
              <a:buFont typeface="+mj-lt"/>
              <a:buAutoNum type="arabicPeriod"/>
            </a:pPr>
            <a:r>
              <a:rPr lang="hu-HU" b="1" dirty="0"/>
              <a:t>🐈‍⬛</a:t>
            </a:r>
            <a:r>
              <a:rPr lang="en-US" b="1" dirty="0"/>
              <a:t>Introduction</a:t>
            </a:r>
            <a:r>
              <a:rPr lang="en-US" dirty="0"/>
              <a:t> – We'll kick things off by introducing ourselves and explaining the concept behind our project.</a:t>
            </a:r>
          </a:p>
          <a:p>
            <a:pPr>
              <a:buFont typeface="+mj-lt"/>
              <a:buAutoNum type="arabicPeriod"/>
            </a:pPr>
            <a:r>
              <a:rPr lang="hu-HU" b="1" dirty="0"/>
              <a:t>🐈‍⬛</a:t>
            </a:r>
            <a:r>
              <a:rPr lang="en-US" b="1" dirty="0"/>
              <a:t>Work Organization &amp; Planning</a:t>
            </a:r>
            <a:r>
              <a:rPr lang="en-US" dirty="0"/>
              <a:t> – Next, we’ll dive into how we organized the work, including the planning process,</a:t>
            </a:r>
            <a:r>
              <a:rPr lang="hu-HU" dirty="0"/>
              <a:t>.</a:t>
            </a:r>
            <a:r>
              <a:rPr lang="en-US" dirty="0"/>
              <a:t>.</a:t>
            </a:r>
          </a:p>
          <a:p>
            <a:pPr>
              <a:buFont typeface="+mj-lt"/>
              <a:buAutoNum type="arabicPeriod"/>
            </a:pPr>
            <a:r>
              <a:rPr lang="hu-HU" b="1" dirty="0"/>
              <a:t>🐤</a:t>
            </a:r>
            <a:r>
              <a:rPr lang="en-US" b="1" dirty="0"/>
              <a:t>Technical Details</a:t>
            </a:r>
            <a:r>
              <a:rPr lang="en-US" dirty="0"/>
              <a:t> – We’ll take you </a:t>
            </a:r>
            <a:r>
              <a:rPr lang="en-US" u="sng" dirty="0"/>
              <a:t>through</a:t>
            </a:r>
            <a:r>
              <a:rPr lang="en-US" dirty="0"/>
              <a:t> the tools we used, the challenges we </a:t>
            </a:r>
            <a:r>
              <a:rPr lang="en-US" u="sng" dirty="0"/>
              <a:t>encountered</a:t>
            </a:r>
            <a:r>
              <a:rPr lang="en-US" dirty="0"/>
              <a:t>, and how we tested our solution.</a:t>
            </a:r>
          </a:p>
          <a:p>
            <a:pPr>
              <a:buFont typeface="+mj-lt"/>
              <a:buAutoNum type="arabicPeriod"/>
            </a:pPr>
            <a:r>
              <a:rPr lang="hu-HU" b="1" dirty="0"/>
              <a:t>🐤</a:t>
            </a:r>
            <a:r>
              <a:rPr lang="en-US" b="1" dirty="0"/>
              <a:t>Teamwork Reflection &amp; Results</a:t>
            </a:r>
            <a:r>
              <a:rPr lang="en-US" dirty="0"/>
              <a:t> – 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Why did we make this project?</a:t>
            </a:r>
            <a:br>
              <a:rPr lang="en-US" dirty="0"/>
            </a:br>
            <a:r>
              <a:rPr lang="en-US" dirty="0"/>
              <a:t>The goal behind </a:t>
            </a:r>
            <a:r>
              <a:rPr lang="en-US" i="1" dirty="0" err="1"/>
              <a:t>Aranyhaj</a:t>
            </a:r>
            <a:r>
              <a:rPr lang="en-US" dirty="0"/>
              <a:t> is to provide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recipients to access the resources they need.</a:t>
            </a:r>
          </a:p>
          <a:p>
            <a:endParaRPr lang="hu-HU" b="1" dirty="0"/>
          </a:p>
          <a:p>
            <a:r>
              <a:rPr lang="hu-HU" b="1" dirty="0"/>
              <a:t>🐈‍⬛</a:t>
            </a:r>
            <a:r>
              <a:rPr lang="en-US" b="1" dirty="0"/>
              <a:t>What is our goal?</a:t>
            </a:r>
            <a:br>
              <a:rPr lang="en-US" dirty="0"/>
            </a:br>
            <a:r>
              <a:rPr lang="en-US" dirty="0"/>
              <a:t>Our goal is to streamline the donation process and raise awareness about the importance of hair donations for medical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🐤Íme a projektünk SWOT elemzése:</a:t>
            </a:r>
          </a:p>
          <a:p>
            <a:pPr>
              <a:buNone/>
            </a:pPr>
            <a:endParaRPr lang="hu-HU" dirty="0"/>
          </a:p>
          <a:p>
            <a:pPr>
              <a:buNone/>
            </a:pPr>
            <a:r>
              <a:rPr lang="hu-HU" b="1" dirty="0"/>
              <a:t>🐤Erősségek:</a:t>
            </a:r>
            <a:br>
              <a:rPr lang="hu-HU" dirty="0"/>
            </a:br>
            <a:r>
              <a:rPr lang="hu-HU" dirty="0"/>
              <a:t>A legnagyobb erősségünk az volt, hogy bárhonnan, bármikor dolgozhattunk a munkánkon. Ebben sokat segített a GitHub-hogy a legfrissebb verzióval dolgozhassunk másik eszközön otthon.</a:t>
            </a:r>
          </a:p>
          <a:p>
            <a:pPr>
              <a:buNone/>
            </a:pP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b="1" dirty="0"/>
              <a:t>🐈‍⬛Lehetőségek:</a:t>
            </a:r>
            <a:br>
              <a:rPr lang="hu-HU" dirty="0"/>
            </a:br>
            <a:r>
              <a:rPr lang="hu-HU" dirty="0"/>
              <a:t>Emellett szerencsére támogatást kaptunk a tanárainktól, akik mindig elérhetőek voltak, amikor útmutatásra volt szükségünk, ami nagy előnyt jelentett.</a:t>
            </a:r>
          </a:p>
          <a:p>
            <a:pPr>
              <a:buNone/>
            </a:pPr>
            <a:endParaRPr lang="hu-HU" dirty="0"/>
          </a:p>
          <a:p>
            <a:pPr>
              <a:buNone/>
            </a:pPr>
            <a:endParaRPr lang="hu-HU" dirty="0"/>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p>
          <a:p>
            <a:pPr>
              <a:buNone/>
            </a:pPr>
            <a:endParaRPr lang="hu-HU" dirty="0"/>
          </a:p>
          <a:p>
            <a:pPr>
              <a:buNone/>
            </a:pPr>
            <a:r>
              <a:rPr lang="hu-HU" b="1" dirty="0"/>
              <a:t>🐤Keretrendszer:</a:t>
            </a:r>
            <a:br>
              <a:rPr lang="hu-HU" dirty="0"/>
            </a:br>
            <a:r>
              <a:rPr lang="hu-HU" dirty="0"/>
              <a:t>Mivel egy olyan keretrendszerrel dolgoztunk (</a:t>
            </a:r>
            <a:r>
              <a:rPr lang="hu-HU" dirty="0" err="1"/>
              <a:t>Laravel</a:t>
            </a:r>
            <a:r>
              <a:rPr lang="hu-HU" dirty="0"/>
              <a:t>),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🐈‍⬛Csapatmunka:</a:t>
            </a:r>
            <a:br>
              <a:rPr lang="hu-HU" dirty="0"/>
            </a:br>
            <a:r>
              <a:rPr lang="hu-HU" dirty="0"/>
              <a:t>Bár remek csapatunk volt, a feladatok koordinálása és a tiszta kommunikáció fenntartása időnként kihívást jelentett. A félreértések és a késlekedő visszajelzések miatt nehéz volt a megfelelő irányban haladni.</a:t>
            </a:r>
          </a:p>
          <a:p>
            <a:pPr>
              <a:buNone/>
            </a:pPr>
            <a:endParaRPr lang="hu-HU" dirty="0"/>
          </a:p>
          <a:p>
            <a:r>
              <a:rPr lang="hu-HU" b="1" dirty="0"/>
              <a:t>🐈‍⬛Határidő:</a:t>
            </a:r>
            <a:br>
              <a:rPr lang="hu-HU" dirty="0"/>
            </a:br>
            <a:r>
              <a:rPr lang="hu-HU" dirty="0"/>
              <a:t>A szoros határidő nagy nyomást helyezett ránk, különösen akkor, amikor új technológiákat kellett elsajátítanunk menet közben. Végül lemaradtunk a tervektől, ami további stresszt okozott, miközben igyekeztünk időben befejezni a projektet.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 de az eredeti terv alapján végül egy hónapos csúszást </a:t>
            </a:r>
            <a:r>
              <a:rPr lang="hu-HU" i="1" dirty="0">
                <a:solidFill>
                  <a:srgbClr val="FF0000"/>
                </a:solidFill>
                <a:highlight>
                  <a:srgbClr val="808080"/>
                </a:highlight>
              </a:rPr>
              <a:t>szenvedtünk el.</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a:t>
            </a:r>
            <a:r>
              <a:rPr lang="hu-HU" dirty="0" err="1"/>
              <a:t>Laravel</a:t>
            </a:r>
            <a:r>
              <a:rPr lang="hu-HU" dirty="0"/>
              <a:t> keretrendszert használtuk annak is a 10.0-ás változatát, mivel a 11-nél már Mesterséges Intelligencia sokat segít, de mi megakartuk tanulni egyes elemek működését. </a:t>
            </a:r>
            <a:r>
              <a:rPr lang="hu-HU" dirty="0" err="1"/>
              <a:t>MySQL</a:t>
            </a:r>
            <a:r>
              <a:rPr lang="hu-HU" dirty="0"/>
              <a:t> adatbázissal kiegészítve az adatok kezelésére.</a:t>
            </a:r>
          </a:p>
          <a:p>
            <a:r>
              <a:rPr lang="hu-HU" dirty="0"/>
              <a:t>🐤A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hu-HU" b="0" i="0" dirty="0">
                <a:solidFill>
                  <a:srgbClr val="000000"/>
                </a:solidFill>
                <a:effectLst/>
                <a:latin typeface="Segoe UI Historic" panose="020B0502040204020203" pitchFamily="34" charset="0"/>
              </a:rPr>
              <a:t>Projekt folyamán sokat tanultunk a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fogjuk fejleszteni a projektet.</a:t>
            </a:r>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1" dirty="0"/>
              <a:t>valamint a rendszer skálázhatóságának növelését,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8" Type="http://schemas.microsoft.com/office/2007/relationships/diagramDrawing" Target="../diagrams/drawing1.xml"/><Relationship Id="rId3" Type="http://schemas.microsoft.com/office/2018/10/relationships/comments" Target="../comments/modernComment_181_E3615940.xml"/><Relationship Id="rId7" Type="http://schemas.openxmlformats.org/officeDocument/2006/relationships/diagramColors" Target="../diagrams/colors1.xm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sz="1800"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sz="1800"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srcRect l="23486" r="23486"/>
          <a:stretch>
            <a:fillRect/>
          </a:stretch>
        </p:blipFill>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sz="1800"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sz="1800"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37585"/>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40818"/>
            <a:ext cx="2506092" cy="3035515"/>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sz="1800"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3493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33634"/>
            <a:ext cx="2506092" cy="3042701"/>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sz="1800" noProof="1"/>
              <a:t>Aranyhaj</a:t>
            </a:r>
            <a:endParaRPr lang="en-US" noProof="1"/>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sz="1800" noProof="1"/>
              <a:t>Aranyhaj</a:t>
            </a:r>
            <a:endParaRPr lang="en-US" noProof="1"/>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graphicFrame>
        <p:nvGraphicFramePr>
          <p:cNvPr id="5" name="Diagram 4">
            <a:extLst>
              <a:ext uri="{FF2B5EF4-FFF2-40B4-BE49-F238E27FC236}">
                <a16:creationId xmlns:a16="http://schemas.microsoft.com/office/drawing/2014/main" id="{5645C13F-6384-2A53-7F65-7FC2E247697A}"/>
              </a:ext>
            </a:extLst>
          </p:cNvPr>
          <p:cNvGraphicFramePr/>
          <p:nvPr>
            <p:extLst>
              <p:ext uri="{D42A27DB-BD31-4B8C-83A1-F6EECF244321}">
                <p14:modId xmlns:p14="http://schemas.microsoft.com/office/powerpoint/2010/main" val="3284232507"/>
              </p:ext>
            </p:extLst>
          </p:nvPr>
        </p:nvGraphicFramePr>
        <p:xfrm>
          <a:off x="645554" y="1470417"/>
          <a:ext cx="10915076" cy="492034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sz="1800" noProof="1"/>
              <a:t>Aranyhaj</a:t>
            </a:r>
            <a:endParaRPr lang="en-US" noProof="1"/>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2850384" y="1378205"/>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7916621" y="1226704"/>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11</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8" name="Kép helye 7">
            <a:extLst>
              <a:ext uri="{FF2B5EF4-FFF2-40B4-BE49-F238E27FC236}">
                <a16:creationId xmlns:a16="http://schemas.microsoft.com/office/drawing/2014/main" id="{D2A7B724-4C72-E836-59E4-AA503D8AE885}"/>
              </a:ext>
            </a:extLst>
          </p:cNvPr>
          <p:cNvPicPr>
            <a:picLocks noGrp="1" noChangeAspect="1"/>
          </p:cNvPicPr>
          <p:nvPr>
            <p:ph type="pic" sz="quarter" idx="10"/>
          </p:nvPr>
        </p:nvPicPr>
        <p:blipFill>
          <a:blip r:embed="rId4"/>
          <a:srcRect l="14585" r="33549"/>
          <a:stretch/>
        </p:blipFill>
        <p:spPr>
          <a:xfrm>
            <a:off x="607845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sz="1800" noProof="1"/>
              <a:t>Aranyhaj</a:t>
            </a:r>
            <a:endParaRPr lang="en-US" noProof="1"/>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13</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14</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1CF4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t>Thank</a:t>
            </a:r>
          </a:p>
          <a:p>
            <a:r>
              <a:rPr lang="en-US" noProof="1"/>
              <a:t>thank</a:t>
            </a:r>
          </a:p>
          <a:p>
            <a:r>
              <a:rPr lang="en-US" noProof="1"/>
              <a:t>Thank</a:t>
            </a:r>
          </a:p>
          <a:p>
            <a:r>
              <a:rPr lang="en-US" noProof="1"/>
              <a:t>You</a:t>
            </a:r>
          </a:p>
          <a:p>
            <a:r>
              <a:rPr lang="en-US" noProof="1"/>
              <a:t>You</a:t>
            </a:r>
          </a:p>
          <a:p>
            <a:r>
              <a:rPr lang="en-US" noProof="1"/>
              <a:t>You</a:t>
            </a:r>
          </a:p>
          <a:p>
            <a:r>
              <a:rPr lang="en-US" noProof="1"/>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B664BA4E-BFD8-44AA-8176-266329CB2336}">
  <ds:schemaRefs>
    <ds:schemaRef ds:uri="http://schemas.microsoft.com/sharepoint/v3/contenttype/forms"/>
  </ds:schemaRefs>
</ds:datastoreItem>
</file>

<file path=customXml/itemProps2.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1208</TotalTime>
  <Words>1193</Words>
  <Application>Microsoft Office PowerPoint</Application>
  <PresentationFormat>Szélesvásznú</PresentationFormat>
  <Paragraphs>169</Paragraphs>
  <Slides>15</Slides>
  <Notes>15</Notes>
  <HiddenSlides>0</HiddenSlides>
  <MMClips>0</MMClips>
  <ScaleCrop>false</ScaleCrop>
  <HeadingPairs>
    <vt:vector size="6" baseType="variant">
      <vt:variant>
        <vt:lpstr>Használt betűtípusok</vt:lpstr>
      </vt:variant>
      <vt:variant>
        <vt:i4>6</vt:i4>
      </vt:variant>
      <vt:variant>
        <vt:lpstr>Téma</vt:lpstr>
      </vt:variant>
      <vt:variant>
        <vt:i4>1</vt:i4>
      </vt:variant>
      <vt:variant>
        <vt:lpstr>Diacímek</vt:lpstr>
      </vt:variant>
      <vt:variant>
        <vt:i4>15</vt:i4>
      </vt:variant>
    </vt:vector>
  </HeadingPairs>
  <TitlesOfParts>
    <vt:vector size="22" baseType="lpstr">
      <vt:lpstr>Arial</vt:lpstr>
      <vt:lpstr>Avenir Book</vt:lpstr>
      <vt:lpstr>Avenir Next LT Pro</vt:lpstr>
      <vt:lpstr>Calibri</vt:lpstr>
      <vt:lpstr>Felix Titling</vt:lpstr>
      <vt:lpstr>Segoe UI Historic</vt:lpstr>
      <vt:lpstr>Custom Design</vt:lpstr>
      <vt:lpstr>aRANYHAJ aRANYHAJ ARANYHAJ AraNYHAJ ARANYHAJ ARANYHAJ ARANYHAJ</vt:lpstr>
      <vt:lpstr>Aranyhaj</vt:lpstr>
      <vt:lpstr>OVERVIEW  OVERVIEW OVERVIEW</vt:lpstr>
      <vt:lpstr>Aranyhaj</vt:lpstr>
      <vt:lpstr>  TEAM TEAM work WORK</vt:lpstr>
      <vt:lpstr>Challanges</vt:lpstr>
      <vt:lpstr>work distribution</vt:lpstr>
      <vt:lpstr>work distribution</vt:lpstr>
      <vt:lpstr>Product roadmap</vt:lpstr>
      <vt:lpstr>Worked with</vt:lpstr>
      <vt:lpstr>  tESTS TESTS TESTS TESTS</vt:lpstr>
      <vt:lpstr>ExecutIVEpROGRAMM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Zoé Urai</cp:lastModifiedBy>
  <cp:revision>23</cp:revision>
  <dcterms:created xsi:type="dcterms:W3CDTF">2025-04-01T10:09:59Z</dcterms:created>
  <dcterms:modified xsi:type="dcterms:W3CDTF">2025-04-15T09:54:21Z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